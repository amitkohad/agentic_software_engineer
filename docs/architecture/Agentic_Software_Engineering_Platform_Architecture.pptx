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D"/>
          </a:solidFill>
          <a:ln w="12700">
            <a:solidFill>
              <a:srgbClr val="071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143000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Software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Platform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3232" y="288036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7E7F7"/>
                </a:solidFill>
              </a:rPr>
              <a:t>High-level architecture for transforming requirements into validated, reviewable engineering outcomes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13232" y="3703320"/>
            <a:ext cx="1508760" cy="301752"/>
          </a:xfrm>
          <a:prstGeom prst="roundRect">
            <a:avLst>
              <a:gd name="adj" fmla="val 24242"/>
            </a:avLst>
          </a:prstGeom>
          <a:solidFill>
            <a:srgbClr val="153D63"/>
          </a:solidFill>
          <a:ln w="12700">
            <a:solidFill>
              <a:srgbClr val="153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3776472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9F7FF"/>
                </a:solidFill>
              </a:rPr>
              <a:t>Controlled autonomy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2377440" y="3703320"/>
            <a:ext cx="1417320" cy="301752"/>
          </a:xfrm>
          <a:prstGeom prst="roundRect">
            <a:avLst>
              <a:gd name="adj" fmla="val 24242"/>
            </a:avLst>
          </a:prstGeom>
          <a:solidFill>
            <a:srgbClr val="153D63"/>
          </a:solidFill>
          <a:ln w="12700">
            <a:solidFill>
              <a:srgbClr val="153D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3776472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9F7FF"/>
                </a:solidFill>
              </a:rPr>
              <a:t>Human oversight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950208" y="3703320"/>
            <a:ext cx="1828800" cy="301752"/>
          </a:xfrm>
          <a:prstGeom prst="roundRect">
            <a:avLst>
              <a:gd name="adj" fmla="val 24242"/>
            </a:avLst>
          </a:prstGeom>
          <a:solidFill>
            <a:srgbClr val="153D63"/>
          </a:solidFill>
          <a:ln w="12700">
            <a:solidFill>
              <a:srgbClr val="153D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3776472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9F7FF"/>
                </a:solidFill>
              </a:rPr>
              <a:t>Audit-grade traceability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13232" y="57607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</a:rPr>
              <a:t>URL Shortener is the demonstration workload — the platform is the real product.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C5D9"/>
          </a:solidFill>
          <a:ln w="12700">
            <a:solidFill>
              <a:srgbClr val="11C5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premise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393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A"/>
                </a:solidFill>
              </a:rPr>
              <a:t>Assignment interpretation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</a:rPr>
              <a:t>Not a URL shortener coding task. A governed AI engineering team.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3154680" cy="1143000"/>
          </a:xfrm>
          <a:prstGeom prst="roundRect">
            <a:avLst>
              <a:gd name="adj" fmla="val 4800"/>
            </a:avLst>
          </a:prstGeom>
          <a:solidFill>
            <a:srgbClr val="EAF2FF"/>
          </a:solidFill>
          <a:ln w="12700">
            <a:solidFill>
              <a:srgbClr val="BC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984248"/>
            <a:ext cx="2935224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Business workload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URL Shortener APIs, analytics, cache, auth, expiration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69080" y="2450592"/>
            <a:ext cx="1005840" cy="0"/>
          </a:xfrm>
          <a:prstGeom prst="line">
            <a:avLst/>
          </a:prstGeom>
          <a:noFill/>
          <a:ln w="25400">
            <a:solidFill>
              <a:srgbClr val="1E6B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257800" y="1874520"/>
            <a:ext cx="3886200" cy="1143000"/>
          </a:xfrm>
          <a:prstGeom prst="roundRect">
            <a:avLst>
              <a:gd name="adj" fmla="val 4800"/>
            </a:avLst>
          </a:prstGeom>
          <a:solidFill>
            <a:srgbClr val="E7FAFC"/>
          </a:solidFill>
          <a:ln w="12700">
            <a:solidFill>
              <a:srgbClr val="B8EB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67528" y="1984248"/>
            <a:ext cx="3666744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Agentic SDLC platform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Requirements → Design → Code → Validate → Release readiness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BFF"/>
                </a:solidFill>
              </a:rPr>
              <a:t>Key shift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4050792"/>
            <a:ext cx="9784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33"/>
                </a:solidFill>
              </a:rPr>
              <a:t>The URL Shortener proves capability, but the differentiator is orchestration: dependency graph, checkpoints, approvals, retries, rollback, safe-stop, traceability, and measurable execution.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829800" y="1783080"/>
            <a:ext cx="1325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39528" y="1892808"/>
            <a:ext cx="110642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6BFF"/>
                </a:solidFill>
              </a:rPr>
              <a:t>20%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6BFF"/>
                </a:solidFill>
              </a:rPr>
              <a:t>Application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829800" y="278892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39528" y="2898648"/>
            <a:ext cx="138074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C5D9"/>
                </a:solidFill>
              </a:rPr>
              <a:t>80%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1C5D9"/>
                </a:solidFill>
              </a:rPr>
              <a:t>Agentic platform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Agentic Software Engineering Platform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C5D9"/>
          </a:solidFill>
          <a:ln w="12700">
            <a:solidFill>
              <a:srgbClr val="11C5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High-level layered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393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A"/>
                </a:solidFill>
              </a:rPr>
              <a:t>System overview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143000" y="1051560"/>
            <a:ext cx="9875520" cy="640080"/>
          </a:xfrm>
          <a:prstGeom prst="roundRect">
            <a:avLst>
              <a:gd name="adj" fmla="val 8571"/>
            </a:avLst>
          </a:prstGeom>
          <a:solidFill>
            <a:srgbClr val="EAF2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2728" y="1161288"/>
            <a:ext cx="96560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Interaction Layer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CLI • Dashboard • Control API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1709928"/>
            <a:ext cx="0" cy="228600"/>
          </a:xfrm>
          <a:prstGeom prst="line">
            <a:avLst/>
          </a:prstGeom>
          <a:noFill/>
          <a:ln w="17780">
            <a:solidFill>
              <a:srgbClr val="1E6B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143000" y="1920240"/>
            <a:ext cx="9875520" cy="640080"/>
          </a:xfrm>
          <a:prstGeom prst="roundRect">
            <a:avLst>
              <a:gd name="adj" fmla="val 8571"/>
            </a:avLst>
          </a:prstGeom>
          <a:solidFill>
            <a:srgbClr val="FFF3D8"/>
          </a:solidFill>
          <a:ln w="12700">
            <a:solidFill>
              <a:srgbClr val="F6B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2029968"/>
            <a:ext cx="96560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Governance &amp; Control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Approval gateway • Policy guardrails • Audit • RBAC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2578608"/>
            <a:ext cx="0" cy="228600"/>
          </a:xfrm>
          <a:prstGeom prst="line">
            <a:avLst/>
          </a:prstGeom>
          <a:noFill/>
          <a:ln w="17780">
            <a:solidFill>
              <a:srgbClr val="F6B54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143000" y="2788920"/>
            <a:ext cx="9875520" cy="640080"/>
          </a:xfrm>
          <a:prstGeom prst="roundRect">
            <a:avLst>
              <a:gd name="adj" fmla="val 8571"/>
            </a:avLst>
          </a:prstGeom>
          <a:solidFill>
            <a:srgbClr val="E7FAFC"/>
          </a:solidFill>
          <a:ln w="12700">
            <a:solidFill>
              <a:srgbClr val="11C5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2728" y="2898648"/>
            <a:ext cx="96560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Agentic Orchestration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LangGraph state machine • DAG • checkpoints • retry/rollback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3447288"/>
            <a:ext cx="0" cy="228600"/>
          </a:xfrm>
          <a:prstGeom prst="line">
            <a:avLst/>
          </a:prstGeom>
          <a:noFill/>
          <a:ln w="17780">
            <a:solidFill>
              <a:srgbClr val="11C5D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143000" y="3657600"/>
            <a:ext cx="9875520" cy="640080"/>
          </a:xfrm>
          <a:prstGeom prst="roundRect">
            <a:avLst>
              <a:gd name="adj" fmla="val 8571"/>
            </a:avLst>
          </a:prstGeom>
          <a:solidFill>
            <a:srgbClr val="EAF8EF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2728" y="3767328"/>
            <a:ext cx="96560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Specialized Engineering Agents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Requirement • Planning • Architecture • Coding • Testing • Security • Docs • Release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0760" y="4315968"/>
            <a:ext cx="0" cy="228600"/>
          </a:xfrm>
          <a:prstGeom prst="line">
            <a:avLst/>
          </a:prstGeom>
          <a:noFill/>
          <a:ln w="17780">
            <a:solidFill>
              <a:srgbClr val="00A88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43000" y="4526280"/>
            <a:ext cx="9875520" cy="640080"/>
          </a:xfrm>
          <a:prstGeom prst="roundRect">
            <a:avLst>
              <a:gd name="adj" fmla="val 8571"/>
            </a:avLst>
          </a:prstGeom>
          <a:solidFill>
            <a:srgbClr val="F0ED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52728" y="4636008"/>
            <a:ext cx="96560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Code Generation Engine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Code plan • Prompt registry • Dependency resolver • Validator • Safe writer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5184648"/>
            <a:ext cx="0" cy="228600"/>
          </a:xfrm>
          <a:prstGeom prst="line">
            <a:avLst/>
          </a:prstGeom>
          <a:noFill/>
          <a:ln w="17780">
            <a:solidFill>
              <a:srgbClr val="7A5C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143000" y="5394960"/>
            <a:ext cx="9875520" cy="640080"/>
          </a:xfrm>
          <a:prstGeom prst="roundRect">
            <a:avLst>
              <a:gd name="adj" fmla="val 8571"/>
            </a:avLst>
          </a:prstGeom>
          <a:solidFill>
            <a:srgbClr val="F2F5F7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52728" y="5504688"/>
            <a:ext cx="96560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Memory, Persistence &amp; Observability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State store • Artifact store • Decision lineage • Metrics • Traces • Logs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Agentic Software Engineering Platform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C5D9"/>
          </a:solidFill>
          <a:ln w="12700">
            <a:solidFill>
              <a:srgbClr val="11C5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SDLC workflow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393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A"/>
                </a:solidFill>
              </a:rPr>
              <a:t>Agent execution path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709928" y="1783080"/>
            <a:ext cx="484632" cy="0"/>
          </a:xfrm>
          <a:prstGeom prst="line">
            <a:avLst/>
          </a:prstGeom>
          <a:noFill/>
          <a:ln w="15240">
            <a:solidFill>
              <a:srgbClr val="B7C5D1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91840" y="1783080"/>
            <a:ext cx="484632" cy="0"/>
          </a:xfrm>
          <a:prstGeom prst="line">
            <a:avLst/>
          </a:prstGeom>
          <a:noFill/>
          <a:ln w="15240">
            <a:solidFill>
              <a:srgbClr val="B7C5D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73752" y="1783080"/>
            <a:ext cx="484632" cy="0"/>
          </a:xfrm>
          <a:prstGeom prst="line">
            <a:avLst/>
          </a:prstGeom>
          <a:noFill/>
          <a:ln w="15240">
            <a:solidFill>
              <a:srgbClr val="B7C5D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55664" y="1783080"/>
            <a:ext cx="484632" cy="0"/>
          </a:xfrm>
          <a:prstGeom prst="line">
            <a:avLst/>
          </a:prstGeom>
          <a:noFill/>
          <a:ln w="15240">
            <a:solidFill>
              <a:srgbClr val="B7C5D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037576" y="1783080"/>
            <a:ext cx="484632" cy="0"/>
          </a:xfrm>
          <a:prstGeom prst="line">
            <a:avLst/>
          </a:prstGeom>
          <a:noFill/>
          <a:ln w="15240">
            <a:solidFill>
              <a:srgbClr val="B7C5D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619488" y="1783080"/>
            <a:ext cx="484632" cy="0"/>
          </a:xfrm>
          <a:prstGeom prst="line">
            <a:avLst/>
          </a:prstGeom>
          <a:noFill/>
          <a:ln w="15240">
            <a:solidFill>
              <a:srgbClr val="B7C5D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8368" y="1417320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EAF2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527048"/>
            <a:ext cx="9235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33"/>
                </a:solidFill>
              </a:rPr>
              <a:t>Requirement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40280" y="1417320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EAF2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0008" y="1527048"/>
            <a:ext cx="9235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33"/>
                </a:solidFill>
              </a:rPr>
              <a:t>Planning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22192" y="1417320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E7FAFC"/>
          </a:solidFill>
          <a:ln w="12700">
            <a:solidFill>
              <a:srgbClr val="11C5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527048"/>
            <a:ext cx="9235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33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04104" y="1417320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FFF3D8"/>
          </a:solidFill>
          <a:ln w="12700">
            <a:solidFill>
              <a:srgbClr val="F6B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1527048"/>
            <a:ext cx="9235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33"/>
                </a:solidFill>
              </a:rPr>
              <a:t>Approval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86016" y="1417320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F0ED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95744" y="1527048"/>
            <a:ext cx="9235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33"/>
                </a:solidFill>
              </a:rPr>
              <a:t>Coding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67928" y="1417320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EAF8EF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77656" y="1527048"/>
            <a:ext cx="9235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33"/>
                </a:solidFill>
              </a:rPr>
              <a:t>Testing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149840" y="1417320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FFEAEA"/>
          </a:solidFill>
          <a:ln w="12700">
            <a:solidFill>
              <a:srgbClr val="E457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59568" y="1527048"/>
            <a:ext cx="9235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33"/>
                </a:solidFill>
              </a:rPr>
              <a:t>Security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725912" y="2240280"/>
            <a:ext cx="0" cy="731520"/>
          </a:xfrm>
          <a:prstGeom prst="line">
            <a:avLst/>
          </a:prstGeom>
          <a:noFill/>
          <a:ln w="15240">
            <a:solidFill>
              <a:srgbClr val="B7C5D1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902952" y="3063240"/>
            <a:ext cx="16459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12680" y="3172968"/>
            <a:ext cx="14264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</a:rPr>
              <a:t>Documentation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802368" y="3401568"/>
            <a:ext cx="-914400" cy="0"/>
          </a:xfrm>
          <a:prstGeom prst="line">
            <a:avLst/>
          </a:prstGeom>
          <a:noFill/>
          <a:ln w="15240">
            <a:solidFill>
              <a:srgbClr val="B7C5D1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09560" y="306324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19288" y="3172968"/>
            <a:ext cx="147218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</a:rPr>
              <a:t>Release readiness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72400" y="3401568"/>
            <a:ext cx="-822960" cy="0"/>
          </a:xfrm>
          <a:prstGeom prst="line">
            <a:avLst/>
          </a:prstGeom>
          <a:noFill/>
          <a:ln w="15240">
            <a:solidFill>
              <a:srgbClr val="B7C5D1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806440" y="306324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FFF3D8"/>
          </a:solidFill>
          <a:ln w="12700">
            <a:solidFill>
              <a:srgbClr val="F6B5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16168" y="3172968"/>
            <a:ext cx="138074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</a:rPr>
              <a:t>Final approval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0" y="3401568"/>
            <a:ext cx="-960120" cy="0"/>
          </a:xfrm>
          <a:prstGeom prst="line">
            <a:avLst/>
          </a:prstGeom>
          <a:noFill/>
          <a:ln w="15240">
            <a:solidFill>
              <a:srgbClr val="B7C5D1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926080" y="3063240"/>
            <a:ext cx="1645920" cy="6858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35808" y="3172968"/>
            <a:ext cx="14264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</a:rPr>
              <a:t>Engineering summary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1520" y="4709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5757"/>
                </a:solidFill>
              </a:rPr>
              <a:t>Control loops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31520" y="5010912"/>
            <a:ext cx="2011680" cy="0"/>
          </a:xfrm>
          <a:prstGeom prst="line">
            <a:avLst/>
          </a:prstGeom>
          <a:noFill/>
          <a:ln w="12700">
            <a:solidFill>
              <a:srgbClr val="E457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07492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033"/>
                </a:solidFill>
              </a:rPr>
              <a:t>Repairable failures route back to the relevant stage. Critical failures trigger safe-stop. High-impact changes pause for approval.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02920" y="6510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Agentic Software Engineering Platform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C5D9"/>
          </a:solidFill>
          <a:ln w="12700">
            <a:solidFill>
              <a:srgbClr val="11C5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Specialized engineering agents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393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A"/>
                </a:solidFill>
              </a:rPr>
              <a:t>Clear accountability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22402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280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BFF"/>
                </a:solidFill>
              </a:rPr>
              <a:t>Requirement Agent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13816" y="1645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</a:rPr>
              <a:t>Normalize intent, ambiguity, assumptions, acceptance criteria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611880" y="1143000"/>
            <a:ext cx="22402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9896" y="1280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BFF"/>
                </a:solidFill>
              </a:rPr>
              <a:t>Planning Agent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39896" y="1645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</a:rPr>
              <a:t>Epics, stories, dependencies, parallel work, critical path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537960" y="1143000"/>
            <a:ext cx="22402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5976" y="1280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BFF"/>
                </a:solidFill>
              </a:rPr>
              <a:t>Architecture Agent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65976" y="1645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</a:rPr>
              <a:t>Technology stack, APIs, schema, security, observability, ADRs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9464040" y="1143000"/>
            <a:ext cx="22402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92056" y="1280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BFF"/>
                </a:solidFill>
              </a:rPr>
              <a:t>Coding Agent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592056" y="1645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</a:rPr>
              <a:t>Creates code plan and delegates file-level generation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85800" y="3429000"/>
            <a:ext cx="22402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" y="3566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BFF"/>
                </a:solidFill>
              </a:rPr>
              <a:t>Testing Agent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3816" y="3931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</a:rPr>
              <a:t>Unit, integration, regression and failure-path tests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3611880" y="3429000"/>
            <a:ext cx="22402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9896" y="3566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BFF"/>
                </a:solidFill>
              </a:rPr>
              <a:t>Security Agent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739896" y="3931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</a:rPr>
              <a:t>Auth, open redirect, injection, secrets, dependency risks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537960" y="3429000"/>
            <a:ext cx="22402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65976" y="3566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BFF"/>
                </a:solidFill>
              </a:rPr>
              <a:t>Documentation Agent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65976" y="3931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</a:rPr>
              <a:t>README, API docs, setup, limitations, operational guidance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9464040" y="3429000"/>
            <a:ext cx="22402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92056" y="3566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BFF"/>
                </a:solidFill>
              </a:rPr>
              <a:t>Release Agent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592056" y="3931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</a:rPr>
              <a:t>Readiness checks, final engineering summary and sign-off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Agentic Software Engineering Platform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C5D9"/>
          </a:solidFill>
          <a:ln w="12700">
            <a:solidFill>
              <a:srgbClr val="11C5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Orchestration and governance controls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393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A"/>
                </a:solidFill>
              </a:rPr>
              <a:t>Controlled autonomy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14300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E7FAFC"/>
          </a:solidFill>
          <a:ln w="12700">
            <a:solidFill>
              <a:srgbClr val="11C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252728"/>
            <a:ext cx="284378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LangGraph Orchestrator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Stateful DAG execution with checkpoints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1252728"/>
            <a:ext cx="284378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Shared Agent State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Requirements, plan, architecture, artifacts, metrics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66760" y="114300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FF3D8"/>
          </a:solidFill>
          <a:ln w="12700">
            <a:solidFill>
              <a:srgbClr val="F6B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76488" y="1252728"/>
            <a:ext cx="284378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Governance Gateway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Approvals, policies, safe-stop and rollback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86200" y="1600200"/>
            <a:ext cx="594360" cy="0"/>
          </a:xfrm>
          <a:prstGeom prst="line">
            <a:avLst/>
          </a:prstGeom>
          <a:noFill/>
          <a:ln w="16510">
            <a:solidFill>
              <a:srgbClr val="B7C5D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80960" y="1600200"/>
            <a:ext cx="594360" cy="0"/>
          </a:xfrm>
          <a:prstGeom prst="line">
            <a:avLst/>
          </a:prstGeom>
          <a:noFill/>
          <a:ln w="16510">
            <a:solidFill>
              <a:srgbClr val="B7C5D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77240" y="2788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BFF"/>
                </a:solidFill>
              </a:rPr>
              <a:t>Guardrails enforced before execution continues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3090672"/>
            <a:ext cx="3840480" cy="0"/>
          </a:xfrm>
          <a:prstGeom prst="line">
            <a:avLst/>
          </a:prstGeom>
          <a:noFill/>
          <a:ln w="12700">
            <a:solidFill>
              <a:srgbClr val="1E6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246120"/>
            <a:ext cx="155448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31927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033"/>
                </a:solidFill>
              </a:rPr>
              <a:t>Architecture approval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2697480" y="3246120"/>
            <a:ext cx="155448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70632" y="331927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033"/>
                </a:solidFill>
              </a:rPr>
              <a:t>Bounded retries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572000" y="3246120"/>
            <a:ext cx="155448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331927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033"/>
                </a:solidFill>
              </a:rPr>
              <a:t>Rollback backup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22960" y="3749040"/>
            <a:ext cx="155448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82219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033"/>
                </a:solidFill>
              </a:rPr>
              <a:t>Protected paths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2697480" y="3749040"/>
            <a:ext cx="155448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70632" y="382219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033"/>
                </a:solidFill>
              </a:rPr>
              <a:t>Prompt versioning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572000" y="3749040"/>
            <a:ext cx="155448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382219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033"/>
                </a:solidFill>
              </a:rPr>
              <a:t>Artifact hashes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6583680" y="2788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84"/>
                </a:solidFill>
              </a:rPr>
              <a:t>Decision lineage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83680" y="3090672"/>
            <a:ext cx="2560320" cy="0"/>
          </a:xfrm>
          <a:prstGeom prst="line">
            <a:avLst/>
          </a:prstGeom>
          <a:noFill/>
          <a:ln w="12700">
            <a:solidFill>
              <a:srgbClr val="00A88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21868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Every agent action records input state, output state, prompt version, model, validation result, approval status and generated artifact hash.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0" y="4343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5757"/>
                </a:solidFill>
              </a:rPr>
              <a:t>Failure handling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83680" y="4645152"/>
            <a:ext cx="2560320" cy="0"/>
          </a:xfrm>
          <a:prstGeom prst="line">
            <a:avLst/>
          </a:prstGeom>
          <a:noFill/>
          <a:ln w="12700">
            <a:solidFill>
              <a:srgbClr val="E457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73659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Repairable failures return to the failed node. Critical failures produce a safe-stop report. File writes can be rolled back from backups.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Agentic Software Engineering Platform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C5D9"/>
          </a:solidFill>
          <a:ln w="12700">
            <a:solidFill>
              <a:srgbClr val="11C5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generation engine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393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A"/>
                </a:solidFill>
              </a:rPr>
              <a:t>Configuration-driven implementation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280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E7FAFC"/>
          </a:solidFill>
          <a:ln w="12700">
            <a:solidFill>
              <a:srgbClr val="11C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389888"/>
            <a:ext cx="115214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</a:rPr>
              <a:t>Approved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</a:rPr>
              <a:t>Architecture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14600" y="128016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EAF2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24328" y="1389888"/>
            <a:ext cx="119786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</a:rPr>
              <a:t>CodeGeneration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</a:rPr>
              <a:t>Plan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280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389888"/>
            <a:ext cx="115214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</a:rPr>
              <a:t>Dependency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</a:rPr>
              <a:t>Resolver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28016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F0ED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389888"/>
            <a:ext cx="124358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</a:rPr>
              <a:t>Generic Code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</a:rPr>
              <a:t>Generator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128016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EAF8EF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389888"/>
            <a:ext cx="119786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</a:rPr>
              <a:t>Deterministic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</a:rPr>
              <a:t>Validator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58400" y="128016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3D8"/>
          </a:solidFill>
          <a:ln w="12700">
            <a:solidFill>
              <a:srgbClr val="F6B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68128" y="1389888"/>
            <a:ext cx="119786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</a:rPr>
              <a:t>Safe Project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</a:rPr>
              <a:t>Builder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48840" y="1673352"/>
            <a:ext cx="320040" cy="0"/>
          </a:xfrm>
          <a:prstGeom prst="line">
            <a:avLst/>
          </a:prstGeom>
          <a:noFill/>
          <a:ln w="15240">
            <a:solidFill>
              <a:srgbClr val="B7C5D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023360" y="1673352"/>
            <a:ext cx="320040" cy="0"/>
          </a:xfrm>
          <a:prstGeom prst="line">
            <a:avLst/>
          </a:prstGeom>
          <a:noFill/>
          <a:ln w="15240">
            <a:solidFill>
              <a:srgbClr val="B7C5D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852160" y="1673352"/>
            <a:ext cx="320040" cy="0"/>
          </a:xfrm>
          <a:prstGeom prst="line">
            <a:avLst/>
          </a:prstGeom>
          <a:noFill/>
          <a:ln w="15240">
            <a:solidFill>
              <a:srgbClr val="B7C5D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818120" y="1673352"/>
            <a:ext cx="320040" cy="0"/>
          </a:xfrm>
          <a:prstGeom prst="line">
            <a:avLst/>
          </a:prstGeom>
          <a:noFill/>
          <a:ln w="15240">
            <a:solidFill>
              <a:srgbClr val="B7C5D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92640" y="1673352"/>
            <a:ext cx="320040" cy="0"/>
          </a:xfrm>
          <a:prstGeom prst="line">
            <a:avLst/>
          </a:prstGeom>
          <a:noFill/>
          <a:ln w="15240">
            <a:solidFill>
              <a:srgbClr val="B7C5D1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85800" y="27889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BFF"/>
                </a:solidFill>
              </a:rPr>
              <a:t>Prompt Registry maps file type to versioned prompt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3090672"/>
            <a:ext cx="5120640" cy="0"/>
          </a:xfrm>
          <a:prstGeom prst="line">
            <a:avLst/>
          </a:prstGeom>
          <a:noFill/>
          <a:ln w="12700">
            <a:solidFill>
              <a:srgbClr val="1E6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321868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3328416"/>
            <a:ext cx="119786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02033"/>
                </a:solidFill>
              </a:rPr>
              <a:t>api → api.md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68880" y="321868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3328416"/>
            <a:ext cx="119786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02033"/>
                </a:solidFill>
              </a:rPr>
              <a:t>domain → domain.md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60520" y="321868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70248" y="3328416"/>
            <a:ext cx="119786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02033"/>
                </a:solidFill>
              </a:rPr>
              <a:t>repository → repository.md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77240" y="372160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" y="3831336"/>
            <a:ext cx="119786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02033"/>
                </a:solidFill>
              </a:rPr>
              <a:t>config → configuration.md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468880" y="372160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78608" y="3831336"/>
            <a:ext cx="119786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02033"/>
                </a:solidFill>
              </a:rPr>
              <a:t>test → test.md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46520" y="2788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84"/>
                </a:solidFill>
              </a:rPr>
              <a:t>File-level generation pattern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46520" y="3090672"/>
            <a:ext cx="3108960" cy="0"/>
          </a:xfrm>
          <a:prstGeom prst="line">
            <a:avLst/>
          </a:prstGeom>
          <a:noFill/>
          <a:ln w="12700">
            <a:solidFill>
              <a:srgbClr val="00A88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18211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One file at a time. Dependency context only. No direct writes. Validation before persistence. Retries are bounded and localized to failed files.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6510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Agentic Software Engineering Platform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C5D9"/>
          </a:solidFill>
          <a:ln w="12700">
            <a:solidFill>
              <a:srgbClr val="11C5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 state and memory model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393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A"/>
                </a:solidFill>
              </a:rPr>
              <a:t>Context preservation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14300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0B243B"/>
          </a:solidFill>
          <a:ln w="12700">
            <a:solidFill>
              <a:srgbClr val="0B2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252728"/>
            <a:ext cx="215798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AgentState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14884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258568"/>
            <a:ext cx="165506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execution_id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3017520" y="214884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27248" y="2258568"/>
            <a:ext cx="165506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user_requirement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5166360" y="214884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2258568"/>
            <a:ext cx="165506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clarified_requirements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868680" y="265176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2761488"/>
            <a:ext cx="165506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task_plan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3017520" y="265176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27248" y="2761488"/>
            <a:ext cx="165506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architecture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5166360" y="265176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2761488"/>
            <a:ext cx="165506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approval_status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868680" y="315468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3264408"/>
            <a:ext cx="165506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code_generation_plan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3017520" y="315468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27248" y="3264408"/>
            <a:ext cx="165506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generated_artifacts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5166360" y="315468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76088" y="3264408"/>
            <a:ext cx="165506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validation_results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868680" y="365760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" y="3767328"/>
            <a:ext cx="165506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retry_count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3017520" y="365760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27248" y="3767328"/>
            <a:ext cx="165506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rollback_history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5166360" y="365760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76088" y="3767328"/>
            <a:ext cx="165506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metrics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7863840" y="114300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EAF2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73568" y="1252728"/>
            <a:ext cx="307238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State Store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Current execution state and checkpoint snapshots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863840" y="233172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E7FAFC"/>
          </a:solidFill>
          <a:ln w="12700">
            <a:solidFill>
              <a:srgbClr val="11C5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73568" y="2441448"/>
            <a:ext cx="307238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Artifact Store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Generated files, hashes, backups and reports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863840" y="352044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FFF3D8"/>
          </a:solidFill>
          <a:ln w="12700">
            <a:solidFill>
              <a:srgbClr val="F6B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73568" y="3630168"/>
            <a:ext cx="307238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Decision Lineage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Prompts, approvals, validation and rollback decisions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68680" y="48006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033"/>
                </a:solidFill>
              </a:rPr>
              <a:t>All agents read and update the same state object. This avoids duplicated reasoning and preserves cross-stage context from requirement clarification through final release summary.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02920" y="6510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Agentic Software Engineering Platform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C5D9"/>
          </a:solidFill>
          <a:ln w="12700">
            <a:solidFill>
              <a:srgbClr val="11C5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scenario demonstrations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393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A"/>
                </a:solidFill>
              </a:rPr>
              <a:t>Required assignment coverage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EAF8EF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344168"/>
            <a:ext cx="284378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Greenfield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Build new URL Shortener from a high-level requirement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</a:rPr>
              <a:t>Requirement → Plan → Architecture → Generate → Validate → Document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4297680"/>
            <a:ext cx="2651760" cy="0"/>
          </a:xfrm>
          <a:prstGeom prst="line">
            <a:avLst/>
          </a:prstGeom>
          <a:noFill/>
          <a:ln w="15240">
            <a:solidFill>
              <a:srgbClr val="00A8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84"/>
                </a:solidFill>
              </a:rPr>
              <a:t>Full project creation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23444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EAF2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344168"/>
            <a:ext cx="284378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Brownfield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Add analytics, expiration or caching to an existing project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880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</a:rPr>
              <a:t>Scan → Impact analysis → Approval → Generate only changed files → Regression tests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4297680"/>
            <a:ext cx="2651760" cy="0"/>
          </a:xfrm>
          <a:prstGeom prst="line">
            <a:avLst/>
          </a:prstGeom>
          <a:noFill/>
          <a:ln w="15240">
            <a:solidFill>
              <a:srgbClr val="1E6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BFF"/>
                </a:solidFill>
              </a:rPr>
              <a:t>Safe change management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83880" y="123444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FFF3D8"/>
          </a:solidFill>
          <a:ln w="12700">
            <a:solidFill>
              <a:srgbClr val="F6B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3608" y="1344168"/>
            <a:ext cx="284378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Ambiguous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2011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Handle vague request such as “improve performance”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75320" y="2880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</a:rPr>
              <a:t>Detect uncertainty → Ask/assume → Re-plan → Approve → Execute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75320" y="4297680"/>
            <a:ext cx="2651760" cy="0"/>
          </a:xfrm>
          <a:prstGeom prst="line">
            <a:avLst/>
          </a:prstGeom>
          <a:noFill/>
          <a:ln w="15240">
            <a:solidFill>
              <a:srgbClr val="F6B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B545"/>
                </a:solidFill>
              </a:rPr>
              <a:t>Adaptive re-planning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Agentic Software Engineering Platform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C5D9"/>
          </a:solidFill>
          <a:ln w="12700">
            <a:solidFill>
              <a:srgbClr val="11C5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Reliability and observability metrics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393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A"/>
                </a:solidFill>
              </a:rPr>
              <a:t>Audit-grade execution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344168"/>
            <a:ext cx="211226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02033"/>
                </a:solidFill>
              </a:rPr>
              <a:t>Execution latency</a:t>
            </a:r>
            <a:endParaRPr lang="en-US" sz="1030" dirty="0"/>
          </a:p>
          <a:p>
            <a:pPr indent="0" marL="0">
              <a:buNone/>
            </a:pPr>
            <a:r>
              <a:rPr lang="en-US" sz="1030" b="1" dirty="0">
                <a:solidFill>
                  <a:srgbClr val="102033"/>
                </a:solidFill>
              </a:rPr>
              <a:t>Time from requirement to final output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3474720" y="123444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1344168"/>
            <a:ext cx="211226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02033"/>
                </a:solidFill>
              </a:rPr>
              <a:t>Agent success rate</a:t>
            </a:r>
            <a:endParaRPr lang="en-US" sz="1030" dirty="0"/>
          </a:p>
          <a:p>
            <a:pPr indent="0" marL="0">
              <a:buNone/>
            </a:pPr>
            <a:r>
              <a:rPr lang="en-US" sz="1030" b="1" dirty="0">
                <a:solidFill>
                  <a:srgbClr val="102033"/>
                </a:solidFill>
              </a:rPr>
              <a:t>Agent-level completion reliability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6263640" y="123444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344168"/>
            <a:ext cx="211226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02033"/>
                </a:solidFill>
              </a:rPr>
              <a:t>First-pass validation</a:t>
            </a:r>
            <a:endParaRPr lang="en-US" sz="1030" dirty="0"/>
          </a:p>
          <a:p>
            <a:pPr indent="0" marL="0">
              <a:buNone/>
            </a:pPr>
            <a:r>
              <a:rPr lang="en-US" sz="1030" b="1" dirty="0">
                <a:solidFill>
                  <a:srgbClr val="102033"/>
                </a:solidFill>
              </a:rPr>
              <a:t>Generated files passing without repair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9052560" y="123444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62288" y="1344168"/>
            <a:ext cx="211226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02033"/>
                </a:solidFill>
              </a:rPr>
              <a:t>Retry frequency</a:t>
            </a:r>
            <a:endParaRPr lang="en-US" sz="1030" dirty="0"/>
          </a:p>
          <a:p>
            <a:pPr indent="0" marL="0">
              <a:buNone/>
            </a:pPr>
            <a:r>
              <a:rPr lang="en-US" sz="1030" b="1" dirty="0">
                <a:solidFill>
                  <a:srgbClr val="102033"/>
                </a:solidFill>
              </a:rPr>
              <a:t>How often bounded retries occur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85800" y="265176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2761488"/>
            <a:ext cx="211226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02033"/>
                </a:solidFill>
              </a:rPr>
              <a:t>Rollback frequency</a:t>
            </a:r>
            <a:endParaRPr lang="en-US" sz="1030" dirty="0"/>
          </a:p>
          <a:p>
            <a:pPr indent="0" marL="0">
              <a:buNone/>
            </a:pPr>
            <a:r>
              <a:rPr lang="en-US" sz="1030" b="1" dirty="0">
                <a:solidFill>
                  <a:srgbClr val="102033"/>
                </a:solidFill>
              </a:rPr>
              <a:t>Unsafe changes restored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3474720" y="265176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4448" y="2761488"/>
            <a:ext cx="211226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02033"/>
                </a:solidFill>
              </a:rPr>
              <a:t>MTTR</a:t>
            </a:r>
            <a:endParaRPr lang="en-US" sz="1030" dirty="0"/>
          </a:p>
          <a:p>
            <a:pPr indent="0" marL="0">
              <a:buNone/>
            </a:pPr>
            <a:r>
              <a:rPr lang="en-US" sz="1030" b="1" dirty="0">
                <a:solidFill>
                  <a:srgbClr val="102033"/>
                </a:solidFill>
              </a:rPr>
              <a:t>Recovery time after failure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263640" y="265176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2761488"/>
            <a:ext cx="211226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02033"/>
                </a:solidFill>
              </a:rPr>
              <a:t>Token consumption</a:t>
            </a:r>
            <a:endParaRPr lang="en-US" sz="1030" dirty="0"/>
          </a:p>
          <a:p>
            <a:pPr indent="0" marL="0">
              <a:buNone/>
            </a:pPr>
            <a:r>
              <a:rPr lang="en-US" sz="1030" b="1" dirty="0">
                <a:solidFill>
                  <a:srgbClr val="102033"/>
                </a:solidFill>
              </a:rPr>
              <a:t>Cost and model utilization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9052560" y="265176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62288" y="2761488"/>
            <a:ext cx="211226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02033"/>
                </a:solidFill>
              </a:rPr>
              <a:t>Approval wait time</a:t>
            </a:r>
            <a:endParaRPr lang="en-US" sz="1030" dirty="0"/>
          </a:p>
          <a:p>
            <a:pPr indent="0" marL="0">
              <a:buNone/>
            </a:pPr>
            <a:r>
              <a:rPr lang="en-US" sz="1030" b="1" dirty="0">
                <a:solidFill>
                  <a:srgbClr val="102033"/>
                </a:solidFill>
              </a:rPr>
              <a:t>Human gate delay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777240" y="4663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BFF"/>
                </a:solidFill>
              </a:rPr>
              <a:t>Why this matters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4965192"/>
            <a:ext cx="2011680" cy="0"/>
          </a:xfrm>
          <a:prstGeom prst="line">
            <a:avLst/>
          </a:prstGeom>
          <a:noFill/>
          <a:ln w="12700">
            <a:solidFill>
              <a:srgbClr val="1E6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01091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033"/>
                </a:solidFill>
              </a:rPr>
              <a:t>The platform measures not only whether code was produced, but whether it was produced safely, repeatably and under governed autonomy.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Agentic Software Engineering Platform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C5D9"/>
          </a:solidFill>
          <a:ln w="12700">
            <a:solidFill>
              <a:srgbClr val="11C5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Interview positioning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393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A"/>
                </a:solidFill>
              </a:rPr>
              <a:t>Concise narrative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</a:rPr>
              <a:t>“I built a governed AI software engineering platform, then used it to generate and improve the URL Shortener.”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FF"/>
                </a:solidFill>
              </a:rPr>
              <a:t>Differentiator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71800" y="2331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Stateful SDLC orchestration rather than linear prompting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1181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FF"/>
                </a:solidFill>
              </a:rPr>
              <a:t>Engineering judgment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71800" y="3118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Architecture approval, deterministic validation and safe writes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9044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FF"/>
                </a:solidFill>
              </a:rPr>
              <a:t>Enterprise readiness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39044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Audit lineage, policy guardrails, retries, rollback and metrics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690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FF"/>
                </a:solidFill>
              </a:rPr>
              <a:t>Extensibility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71800" y="46908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Generic code generator controlled by file specs and prompt registry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5532120"/>
            <a:ext cx="10149840" cy="713232"/>
          </a:xfrm>
          <a:prstGeom prst="roundRect">
            <a:avLst>
              <a:gd name="adj" fmla="val 7692"/>
            </a:avLst>
          </a:prstGeom>
          <a:solidFill>
            <a:srgbClr val="0B243B"/>
          </a:solidFill>
          <a:ln w="12700">
            <a:solidFill>
              <a:srgbClr val="0B24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5641848"/>
            <a:ext cx="993038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One-line summary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 stateful, governed, multi-agent SDLC platform that transforms requirements into validated, reviewable and release-ready engineering outcomes under human oversight.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Agentic Software Engineering Platform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Software Engineering Platform Architecture</dc:title>
  <dc:subject>Agentic Software Engineering Platform Architecture</dc:subject>
  <dc:creator>OpenAI</dc:creator>
  <cp:lastModifiedBy>OpenAI</cp:lastModifiedBy>
  <cp:revision>1</cp:revision>
  <dcterms:created xsi:type="dcterms:W3CDTF">2026-08-04T18:04:21Z</dcterms:created>
  <dcterms:modified xsi:type="dcterms:W3CDTF">2026-08-04T18:04:21Z</dcterms:modified>
</cp:coreProperties>
</file>